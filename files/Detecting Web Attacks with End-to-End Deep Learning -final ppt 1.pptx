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301" r:id="rId14"/>
    <p:sldId id="302" r:id="rId15"/>
    <p:sldId id="340" r:id="rId16"/>
    <p:sldId id="303" r:id="rId17"/>
    <p:sldId id="339" r:id="rId18"/>
    <p:sldId id="342" r:id="rId19"/>
    <p:sldId id="343" r:id="rId20"/>
    <p:sldId id="338" r:id="rId21"/>
    <p:sldId id="341" r:id="rId22"/>
    <p:sldId id="357" r:id="rId23"/>
    <p:sldId id="344" r:id="rId24"/>
    <p:sldId id="345" r:id="rId25"/>
    <p:sldId id="346" r:id="rId26"/>
    <p:sldId id="347" r:id="rId27"/>
    <p:sldId id="348" r:id="rId28"/>
    <p:sldId id="349" r:id="rId29"/>
    <p:sldId id="350" r:id="rId30"/>
    <p:sldId id="351" r:id="rId31"/>
    <p:sldId id="352" r:id="rId32"/>
    <p:sldId id="353" r:id="rId33"/>
    <p:sldId id="354" r:id="rId34"/>
    <p:sldId id="358" r:id="rId35"/>
    <p:sldId id="286" r:id="rId36"/>
    <p:sldId id="359" r:id="rId37"/>
    <p:sldId id="28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24" autoAdjust="0"/>
    <p:restoredTop sz="94660"/>
  </p:normalViewPr>
  <p:slideViewPr>
    <p:cSldViewPr>
      <p:cViewPr>
        <p:scale>
          <a:sx n="57" d="100"/>
          <a:sy n="57" d="100"/>
        </p:scale>
        <p:origin x="-2580" y="-103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4/20/2023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4/20/2023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4/20/2023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67000"/>
            <a:ext cx="7772400" cy="3429000"/>
          </a:xfrm>
        </p:spPr>
        <p:txBody>
          <a:bodyPr>
            <a:noAutofit/>
          </a:bodyPr>
          <a:lstStyle/>
          <a:p>
            <a:pPr algn="ctr"/>
            <a:r>
              <a:rPr lang="en-US" sz="3600" smtClean="0"/>
              <a:t>AUTO ENCODER SYSTEM FOR INTRUSION DETECTION</a:t>
            </a: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rmAutofit/>
          </a:bodyPr>
          <a:lstStyle/>
          <a:p>
            <a:r>
              <a:rPr lang="en-US" sz="2000" dirty="0" smtClean="0"/>
              <a:t>Web applications are popular targets for cyber-attacks because they are network-accessible and often contain vulnerabilities. An intrusion detection system monitors web applications and issues alerts when an attack attempt is detected. Existing implementations of intrusion detection systems usually extract features from network packets or string characteristics of input that are manually selected as relevant to attack analysis. Manually selecting features, however, is time-consuming and requires in-depth security domain knowledge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r>
              <a:rPr lang="en-US" sz="2000" dirty="0" smtClean="0"/>
              <a:t>A web application may comprise multiple components where multiple agents are attached. Likewise, multiple instances of the application may run on different physical hardware for scalability. It is important for agents to communicate effectively with our machine learning backend to process collected traces, which requires some means of mapping the task- and application-level abstractions onto physical computing resources.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r>
              <a:rPr lang="en-US" sz="2000" b="1" dirty="0" smtClean="0"/>
              <a:t>A classification of </a:t>
            </a:r>
            <a:r>
              <a:rPr lang="en-US" sz="2000" b="1" dirty="0" err="1" smtClean="0"/>
              <a:t>sql</a:t>
            </a:r>
            <a:r>
              <a:rPr lang="en-US" sz="2000" b="1" dirty="0" smtClean="0"/>
              <a:t>-injection attacks and countermeasures</a:t>
            </a:r>
            <a:endParaRPr lang="en-US" sz="1600" dirty="0" smtClean="0"/>
          </a:p>
          <a:p>
            <a:r>
              <a:rPr lang="en-US" sz="2000" b="1" dirty="0" smtClean="0"/>
              <a:t>AUTHORS:</a:t>
            </a:r>
            <a:r>
              <a:rPr lang="en-US" sz="1600" dirty="0" smtClean="0"/>
              <a:t> </a:t>
            </a:r>
            <a:r>
              <a:rPr lang="en-US" sz="2000" b="1" dirty="0" err="1" smtClean="0"/>
              <a:t>Halfond</a:t>
            </a:r>
            <a:r>
              <a:rPr lang="en-US" sz="2000" b="1" dirty="0" smtClean="0"/>
              <a:t> WG, </a:t>
            </a:r>
            <a:r>
              <a:rPr lang="en-US" sz="2000" b="1" dirty="0" err="1" smtClean="0"/>
              <a:t>Viegas</a:t>
            </a:r>
            <a:r>
              <a:rPr lang="en-US" sz="2000" b="1" dirty="0" smtClean="0"/>
              <a:t> J, </a:t>
            </a:r>
            <a:r>
              <a:rPr lang="en-US" sz="2000" b="1" dirty="0" err="1" smtClean="0"/>
              <a:t>Orso</a:t>
            </a:r>
            <a:r>
              <a:rPr lang="en-US" sz="2000" b="1" dirty="0" smtClean="0"/>
              <a:t> A.</a:t>
            </a:r>
            <a:endParaRPr lang="en-US" sz="1600" dirty="0" smtClean="0"/>
          </a:p>
          <a:p>
            <a:r>
              <a:rPr lang="en-US" sz="2000" b="1" dirty="0" smtClean="0"/>
              <a:t>ABSTRACT:</a:t>
            </a:r>
            <a:r>
              <a:rPr lang="en-US" sz="2000" dirty="0" smtClean="0"/>
              <a:t>SQL injection attacks pose a serious security threat to Web applications: they allow attackers to obtain unrestricted access to the databases underlying the applications and to the potentially sensitive information these databases contain. Although researchers and practitioners have proposed various methods to address the SQL injection problem, current approaches either fail to address the full scope of the problem or have limitations that prevent their use and adoption</a:t>
            </a:r>
            <a:endParaRPr lang="en-US" sz="5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rmAutofit/>
          </a:bodyPr>
          <a:lstStyle/>
          <a:p>
            <a:r>
              <a:rPr lang="en-US" sz="2000" b="1" dirty="0" smtClean="0"/>
              <a:t>An adaptive network intrusion detection method based on </a:t>
            </a:r>
            <a:r>
              <a:rPr lang="en-US" sz="2000" b="1" dirty="0" err="1" smtClean="0"/>
              <a:t>pca</a:t>
            </a:r>
            <a:r>
              <a:rPr lang="en-US" sz="2000" b="1" dirty="0" smtClean="0"/>
              <a:t> and support vector machines. Advanced Data Mining and Applications.</a:t>
            </a:r>
            <a:endParaRPr lang="en-US" sz="2000" dirty="0" smtClean="0"/>
          </a:p>
          <a:p>
            <a:r>
              <a:rPr lang="en-US" sz="2000" b="1" dirty="0" smtClean="0"/>
              <a:t> AUTHORS: </a:t>
            </a:r>
            <a:r>
              <a:rPr lang="en-US" sz="2000" dirty="0" smtClean="0"/>
              <a:t> </a:t>
            </a:r>
            <a:r>
              <a:rPr lang="en-US" sz="2000" b="1" dirty="0" err="1" smtClean="0"/>
              <a:t>Xu</a:t>
            </a:r>
            <a:r>
              <a:rPr lang="en-US" sz="2000" b="1" dirty="0" smtClean="0"/>
              <a:t> X, Wang X.</a:t>
            </a:r>
            <a:endParaRPr lang="en-US" sz="2000" dirty="0" smtClean="0"/>
          </a:p>
          <a:p>
            <a:r>
              <a:rPr lang="en-US" sz="2000" b="1" dirty="0" smtClean="0"/>
              <a:t>ABSTRACT:</a:t>
            </a:r>
            <a:r>
              <a:rPr lang="en-US" sz="2000" dirty="0" smtClean="0"/>
              <a:t> Network intrusion detection is an important technique in computer security. However, the performance of existing intrusion detection systems (IDSs) is unsatisfactory since new attacks are constantly developed and the speed of network traffic volumes increases fast. To improve the performance of IDSs both in accuracy and speed, this paper proposes a novel adaptive intrusion detection method based on principal component analysis (PCA) and support vector machines (SVMs)</a:t>
            </a: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rmAutofit/>
          </a:bodyPr>
          <a:lstStyle/>
          <a:p>
            <a:r>
              <a:rPr lang="en-US" sz="2000" b="1" dirty="0" smtClean="0"/>
              <a:t>Using Adaptive Alert Classification to Reduce False Positives in Intrusion Detection</a:t>
            </a:r>
            <a:endParaRPr lang="en-US" sz="2000" dirty="0" smtClean="0"/>
          </a:p>
          <a:p>
            <a:r>
              <a:rPr lang="en-US" sz="2000" b="1" dirty="0" smtClean="0"/>
              <a:t>AUTHORS: </a:t>
            </a:r>
            <a:r>
              <a:rPr lang="en-US" sz="2000" dirty="0" smtClean="0"/>
              <a:t> </a:t>
            </a:r>
            <a:r>
              <a:rPr lang="en-US" sz="2000" b="1" dirty="0" err="1" smtClean="0"/>
              <a:t>Pietraszek</a:t>
            </a:r>
            <a:r>
              <a:rPr lang="en-US" sz="2000" b="1" dirty="0" smtClean="0"/>
              <a:t> T.</a:t>
            </a:r>
            <a:endParaRPr lang="en-US" sz="2000" dirty="0" smtClean="0"/>
          </a:p>
          <a:p>
            <a:r>
              <a:rPr lang="en-US" sz="2000" b="1" dirty="0" smtClean="0"/>
              <a:t>ABSTRACT:</a:t>
            </a:r>
            <a:r>
              <a:rPr lang="en-US" sz="2000" dirty="0" smtClean="0"/>
              <a:t> Intrusion Detection Systems (IDSs) are used to monitor computer systems for signs of security violations. Having detected such signs, IDSs trigger alerts to report them. These alerts are presented to a human analyst, who evaluates them and initiates an adequate response. In practice, IDSs have been observed to trigger thousands of alerts per day, most of which are false positives (i.e. alerts mistakenly triggered by benign events).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rmAutofit/>
          </a:bodyPr>
          <a:lstStyle/>
          <a:p>
            <a:r>
              <a:rPr lang="en-US" sz="2000" b="1" dirty="0" smtClean="0"/>
              <a:t>An anomaly detection method to detect web attacks using stacked auto-encoder</a:t>
            </a:r>
          </a:p>
          <a:p>
            <a:r>
              <a:rPr lang="en-US" sz="2000" b="1" dirty="0" smtClean="0"/>
              <a:t>AUTHORS: </a:t>
            </a:r>
            <a:r>
              <a:rPr lang="en-US" sz="2000" dirty="0" smtClean="0"/>
              <a:t> </a:t>
            </a:r>
            <a:r>
              <a:rPr lang="en-US" sz="2000" b="1" dirty="0" smtClean="0"/>
              <a:t>Ali </a:t>
            </a:r>
            <a:r>
              <a:rPr lang="en-US" sz="2000" b="1" dirty="0" err="1" smtClean="0"/>
              <a:t>Moradi</a:t>
            </a:r>
            <a:r>
              <a:rPr lang="en-US" sz="2000" b="1" dirty="0" smtClean="0"/>
              <a:t> </a:t>
            </a:r>
            <a:r>
              <a:rPr lang="en-US" sz="2000" b="1" dirty="0" err="1" smtClean="0"/>
              <a:t>Vartouni,Saeed</a:t>
            </a:r>
            <a:r>
              <a:rPr lang="en-US" sz="2000" b="1" dirty="0" smtClean="0"/>
              <a:t> </a:t>
            </a:r>
            <a:r>
              <a:rPr lang="en-US" sz="2000" b="1" dirty="0" err="1" smtClean="0"/>
              <a:t>Sedighian</a:t>
            </a:r>
            <a:r>
              <a:rPr lang="en-US" sz="2000" b="1" dirty="0" smtClean="0"/>
              <a:t> </a:t>
            </a:r>
            <a:r>
              <a:rPr lang="en-US" sz="2000" b="1" dirty="0" err="1" smtClean="0"/>
              <a:t>Kashi,Mohammad</a:t>
            </a:r>
            <a:r>
              <a:rPr lang="en-US" sz="2000" b="1" dirty="0" smtClean="0"/>
              <a:t> </a:t>
            </a:r>
            <a:r>
              <a:rPr lang="en-US" sz="2000" b="1" dirty="0" err="1" smtClean="0"/>
              <a:t>Teshnehlab</a:t>
            </a:r>
            <a:endParaRPr lang="en-US" sz="2000" dirty="0" smtClean="0"/>
          </a:p>
          <a:p>
            <a:r>
              <a:rPr lang="en-US" sz="2000" b="1" dirty="0" smtClean="0"/>
              <a:t>ABSTRACT:</a:t>
            </a:r>
            <a:r>
              <a:rPr lang="en-US" sz="2000" dirty="0" smtClean="0"/>
              <a:t> Network borne attacks are currently major threats to information security. Enormous efforts such as scanners, encryption devices, intrusion detection systems and firewalls have been made to mitigate these attacks. Web application firewalls use intrusion detection techniques to protect servers form HTTP traffic and, Machine learning algorithms have used based on anomaly detection in these firewalls.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idx="1"/>
          </p:nvPr>
        </p:nvSpPr>
        <p:spPr/>
        <p:txBody>
          <a:bodyPr>
            <a:normAutofit/>
          </a:bodyPr>
          <a:lstStyle/>
          <a:p>
            <a:r>
              <a:rPr lang="en-US" sz="1800" dirty="0" smtClean="0"/>
              <a:t>Existing implementations of intrusion detection systems usually extract features from network packets or string characteristics of input that are manually selected as relevant to attack analysis. Manually selecting features, however, is time-consuming and requires in-depth security domain knowledge. Moreover, large amounts of labeled legitimate and attack request data are needed by supervised learning algorithms to classify normal and abnormal behaviors, which is often expensive and impractical to obtain for production web applications.</a:t>
            </a:r>
          </a:p>
          <a:p>
            <a:pPr>
              <a:buNone/>
            </a:pPr>
            <a:endParaRPr lang="en-US" sz="1800" dirty="0" smtClean="0"/>
          </a:p>
          <a:p>
            <a:pPr>
              <a:buNone/>
            </a:pPr>
            <a:r>
              <a:rPr lang="en-US" sz="1800" b="1" dirty="0" smtClean="0"/>
              <a:t>DISADVANTAGES OF EXISTING SYSTEM:</a:t>
            </a:r>
            <a:endParaRPr lang="en-US" sz="1800" dirty="0" smtClean="0"/>
          </a:p>
          <a:p>
            <a:pPr lvl="0"/>
            <a:r>
              <a:rPr lang="en-US" sz="1800" dirty="0" smtClean="0"/>
              <a:t>Lack of identifying attacks in web application.</a:t>
            </a:r>
          </a:p>
          <a:p>
            <a:pPr lvl="0"/>
            <a:r>
              <a:rPr lang="en-US" sz="1800" dirty="0" smtClean="0"/>
              <a:t>Researchers found that more than half of web applications during a 2015-2016 scan contained high security vulnerabilities</a:t>
            </a:r>
          </a:p>
          <a:p>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idx="1"/>
          </p:nvPr>
        </p:nvSpPr>
        <p:spPr/>
        <p:txBody>
          <a:bodyPr>
            <a:normAutofit fontScale="92500" lnSpcReduction="10000"/>
          </a:bodyPr>
          <a:lstStyle/>
          <a:p>
            <a:pPr lvl="0"/>
            <a:r>
              <a:rPr lang="en-US" sz="1800" dirty="0" smtClean="0"/>
              <a:t>In this paper author is describing concept to detect attacks from web application using Deep Learning Network and Robust Software Modelling Tool (RSMT). RSMT tool is a web monitoring tool which monitor execution behaviour of web application and record in a trace file. Trace file contains low dimensional raw data and it cannot be used for Deep Learning Network. To convert this raw data to deep learning features author is using auto encoder technique. Auto encoder will convert raw data into deep learning features. This features will be passes to propose </a:t>
            </a:r>
            <a:r>
              <a:rPr lang="en-US" sz="1800" dirty="0" err="1" smtClean="0"/>
              <a:t>AutoEncoder</a:t>
            </a:r>
            <a:r>
              <a:rPr lang="en-US" sz="1800" dirty="0" smtClean="0"/>
              <a:t> algorithm which will generate train and test data from features. </a:t>
            </a:r>
            <a:r>
              <a:rPr lang="en-US" sz="1800" dirty="0" err="1" smtClean="0"/>
              <a:t>AutoEncoder</a:t>
            </a:r>
            <a:r>
              <a:rPr lang="en-US" sz="1800" dirty="0" smtClean="0"/>
              <a:t> algorithm require un-label train data to generate model and new test data will be applied on </a:t>
            </a:r>
            <a:r>
              <a:rPr lang="en-US" sz="1800" dirty="0" err="1" smtClean="0"/>
              <a:t>AutoEncoder</a:t>
            </a:r>
            <a:r>
              <a:rPr lang="en-US" sz="1800" dirty="0" smtClean="0"/>
              <a:t> train model to identify new test data is a normal request or contains attack. If new test data not available in </a:t>
            </a:r>
            <a:r>
              <a:rPr lang="en-US" sz="1800" dirty="0" err="1" smtClean="0"/>
              <a:t>AutoEncoder</a:t>
            </a:r>
            <a:r>
              <a:rPr lang="en-US" sz="1800" dirty="0" smtClean="0"/>
              <a:t> train model then it will be consider as attack. </a:t>
            </a:r>
          </a:p>
          <a:p>
            <a:pPr>
              <a:buNone/>
            </a:pPr>
            <a:endParaRPr lang="en-US" sz="1800" dirty="0" smtClean="0"/>
          </a:p>
          <a:p>
            <a:r>
              <a:rPr lang="en-US" sz="1800" b="1" dirty="0" smtClean="0"/>
              <a:t>ADVANTAGES OF PROPOSED SYSTEM:</a:t>
            </a:r>
            <a:endParaRPr lang="en-US" sz="1800" dirty="0" smtClean="0"/>
          </a:p>
          <a:p>
            <a:r>
              <a:rPr lang="en-US" sz="1800" dirty="0" smtClean="0"/>
              <a:t>we are using LSTM (Long Short Term Memory) Algorithm which is an advance version of deep learning network whose prediction accuracy is more compare to existing algorithms.</a:t>
            </a:r>
          </a:p>
          <a:p>
            <a:pPr>
              <a:buNone/>
            </a:pPr>
            <a:endParaRPr lang="en-US" sz="18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REQUIRMENTS</a:t>
            </a:r>
            <a:endParaRPr lang="en-US" dirty="0"/>
          </a:p>
        </p:txBody>
      </p:sp>
      <p:sp>
        <p:nvSpPr>
          <p:cNvPr id="3" name="Content Placeholder 2"/>
          <p:cNvSpPr>
            <a:spLocks noGrp="1"/>
          </p:cNvSpPr>
          <p:nvPr>
            <p:ph idx="1"/>
          </p:nvPr>
        </p:nvSpPr>
        <p:spPr/>
        <p:txBody>
          <a:bodyPr>
            <a:normAutofit lnSpcReduction="10000"/>
          </a:bodyPr>
          <a:lstStyle/>
          <a:p>
            <a:r>
              <a:rPr lang="en-US" sz="2000" b="1" dirty="0" smtClean="0"/>
              <a:t>SOFTWARE REQUIREMENTS</a:t>
            </a:r>
            <a:endParaRPr lang="en-US" sz="2000" dirty="0" smtClean="0"/>
          </a:p>
          <a:p>
            <a:pPr fontAlgn="base"/>
            <a:r>
              <a:rPr lang="en-US" sz="2000" dirty="0" smtClean="0"/>
              <a:t>The functional requirements or the overall description documents include the product perspective and features, operating system and operating environment, graphics requirements, design constraints and user documentation.</a:t>
            </a:r>
          </a:p>
          <a:p>
            <a:pPr fontAlgn="base"/>
            <a:r>
              <a:rPr lang="en-US" sz="2000" dirty="0" smtClean="0"/>
              <a:t>The appropriation of requirements and implementation constraints gives the general overview of the project in regards to what the areas of strength and deficit are and how to tackle them.</a:t>
            </a:r>
          </a:p>
          <a:p>
            <a:r>
              <a:rPr lang="en-US" sz="2000" b="1" dirty="0" smtClean="0"/>
              <a:t> </a:t>
            </a:r>
            <a:endParaRPr lang="en-US" sz="2000" dirty="0" smtClean="0"/>
          </a:p>
          <a:p>
            <a:pPr lvl="0"/>
            <a:r>
              <a:rPr lang="en-IN" sz="2000" b="1" dirty="0" smtClean="0"/>
              <a:t>Python </a:t>
            </a:r>
            <a:r>
              <a:rPr lang="en-IN" sz="2000" b="1" dirty="0" err="1" smtClean="0"/>
              <a:t>idel</a:t>
            </a:r>
            <a:r>
              <a:rPr lang="en-IN" sz="2000" b="1" dirty="0" smtClean="0"/>
              <a:t> 3.7 version   (or)</a:t>
            </a:r>
            <a:endParaRPr lang="en-US" sz="2000" dirty="0" smtClean="0"/>
          </a:p>
          <a:p>
            <a:pPr lvl="0"/>
            <a:r>
              <a:rPr lang="en-IN" sz="2000" b="1" dirty="0" smtClean="0"/>
              <a:t>Anaconda 3.7   ( or)</a:t>
            </a:r>
            <a:endParaRPr lang="en-US" sz="2000" dirty="0" smtClean="0"/>
          </a:p>
          <a:p>
            <a:pPr lvl="0"/>
            <a:r>
              <a:rPr lang="en-IN" sz="2000" b="1" dirty="0" smtClean="0"/>
              <a:t>Jupiter   (or)</a:t>
            </a:r>
            <a:endParaRPr lang="en-US" sz="2000" dirty="0" smtClean="0"/>
          </a:p>
          <a:p>
            <a:pPr lvl="0"/>
            <a:r>
              <a:rPr lang="en-IN" sz="2000" b="1" dirty="0" smtClean="0"/>
              <a:t>Google </a:t>
            </a:r>
            <a:r>
              <a:rPr lang="en-IN" sz="2000" b="1" dirty="0" err="1" smtClean="0"/>
              <a:t>colab</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REQUIRMENTS</a:t>
            </a:r>
            <a:endParaRPr lang="en-US" dirty="0"/>
          </a:p>
        </p:txBody>
      </p:sp>
      <p:sp>
        <p:nvSpPr>
          <p:cNvPr id="3" name="Content Placeholder 2"/>
          <p:cNvSpPr>
            <a:spLocks noGrp="1"/>
          </p:cNvSpPr>
          <p:nvPr>
            <p:ph idx="1"/>
          </p:nvPr>
        </p:nvSpPr>
        <p:spPr/>
        <p:txBody>
          <a:bodyPr>
            <a:normAutofit/>
          </a:bodyPr>
          <a:lstStyle/>
          <a:p>
            <a:r>
              <a:rPr lang="en-US" sz="2000" b="1" dirty="0" smtClean="0"/>
              <a:t>HARDWARE REQUIREMENTS</a:t>
            </a:r>
            <a:endParaRPr lang="en-US" sz="2000" dirty="0" smtClean="0"/>
          </a:p>
          <a:p>
            <a:r>
              <a:rPr lang="en-US" sz="2000" dirty="0" smtClean="0"/>
              <a:t>Minimum hardware requirements are very dependent on the particular software being developed by a given </a:t>
            </a:r>
            <a:r>
              <a:rPr lang="en-US" sz="2000" dirty="0" err="1" smtClean="0"/>
              <a:t>Enthought</a:t>
            </a:r>
            <a:r>
              <a:rPr lang="en-US" sz="2000" dirty="0" smtClean="0"/>
              <a:t> Python / Canopy / VS Code user. Applications that need to store large arrays/objects in memory will require more RAM, whereas applications that need to perform numerous calculations or tasks more quickly will require a faster processor.</a:t>
            </a:r>
          </a:p>
          <a:p>
            <a:pPr lvl="0"/>
            <a:r>
              <a:rPr lang="en-IN" sz="2000" b="1" dirty="0" smtClean="0"/>
              <a:t>Operating system		: windows, </a:t>
            </a:r>
            <a:r>
              <a:rPr lang="en-IN" sz="2000" b="1" dirty="0" err="1" smtClean="0"/>
              <a:t>linux</a:t>
            </a:r>
            <a:endParaRPr lang="en-US" sz="2000" dirty="0" smtClean="0"/>
          </a:p>
          <a:p>
            <a:pPr lvl="0"/>
            <a:r>
              <a:rPr lang="en-IN" sz="2000" b="1" dirty="0" smtClean="0"/>
              <a:t>Processor			: minimum </a:t>
            </a:r>
            <a:r>
              <a:rPr lang="en-IN" sz="2000" b="1" dirty="0" err="1" smtClean="0"/>
              <a:t>intel</a:t>
            </a:r>
            <a:r>
              <a:rPr lang="en-IN" sz="2000" b="1" dirty="0" smtClean="0"/>
              <a:t> i3</a:t>
            </a:r>
            <a:endParaRPr lang="en-US" sz="2000" dirty="0" smtClean="0"/>
          </a:p>
          <a:p>
            <a:pPr lvl="0"/>
            <a:r>
              <a:rPr lang="en-IN" sz="2000" b="1" dirty="0" smtClean="0"/>
              <a:t>Ram				:  minimum 4 </a:t>
            </a:r>
            <a:r>
              <a:rPr lang="en-IN" sz="2000" b="1" dirty="0" err="1" smtClean="0"/>
              <a:t>gb</a:t>
            </a:r>
            <a:endParaRPr lang="en-US" sz="2000" dirty="0" smtClean="0"/>
          </a:p>
          <a:p>
            <a:pPr lvl="0"/>
            <a:r>
              <a:rPr lang="en-IN" sz="2000" b="1" dirty="0" smtClean="0"/>
              <a:t>Hard disk 			: minimum 250gb</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Picture 3" descr="C:\Users\GENIUS\Desktop\AX.JPG"/>
          <p:cNvPicPr/>
          <p:nvPr/>
        </p:nvPicPr>
        <p:blipFill>
          <a:blip r:embed="rId2"/>
          <a:srcRect/>
          <a:stretch>
            <a:fillRect/>
          </a:stretch>
        </p:blipFill>
        <p:spPr bwMode="auto">
          <a:xfrm>
            <a:off x="1971675" y="2121535"/>
            <a:ext cx="5200650" cy="261493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19400"/>
            <a:ext cx="8229600" cy="990600"/>
          </a:xfrm>
        </p:spPr>
        <p:txBody>
          <a:bodyPr/>
          <a:lstStyle/>
          <a:p>
            <a:pPr algn="ctr"/>
            <a:r>
              <a:rPr lang="en-US" dirty="0" smtClean="0"/>
              <a:t>UML DIAGRAMS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81000"/>
            <a:ext cx="8229600" cy="838200"/>
          </a:xfrm>
        </p:spPr>
        <p:txBody>
          <a:bodyPr>
            <a:normAutofit/>
          </a:bodyPr>
          <a:lstStyle/>
          <a:p>
            <a:r>
              <a:rPr lang="en-US" dirty="0" smtClean="0"/>
              <a:t>DATAFLOW DIAGRAM</a:t>
            </a:r>
            <a:endParaRPr lang="en-US" dirty="0"/>
          </a:p>
        </p:txBody>
      </p:sp>
      <p:pic>
        <p:nvPicPr>
          <p:cNvPr id="1026" name="Picture 2"/>
          <p:cNvPicPr>
            <a:picLocks noChangeAspect="1" noChangeArrowheads="1"/>
          </p:cNvPicPr>
          <p:nvPr/>
        </p:nvPicPr>
        <p:blipFill>
          <a:blip r:embed="rId2"/>
          <a:srcRect/>
          <a:stretch>
            <a:fillRect/>
          </a:stretch>
        </p:blipFill>
        <p:spPr bwMode="auto">
          <a:xfrm>
            <a:off x="3024188" y="1390650"/>
            <a:ext cx="3095625" cy="40767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81000"/>
            <a:ext cx="8229600" cy="838200"/>
          </a:xfrm>
        </p:spPr>
        <p:txBody>
          <a:bodyPr>
            <a:normAutofit/>
          </a:bodyPr>
          <a:lstStyle/>
          <a:p>
            <a:r>
              <a:rPr lang="en-US" dirty="0" smtClean="0"/>
              <a:t>USECASE DIAGRAM</a:t>
            </a:r>
            <a:endParaRPr lang="en-US" dirty="0"/>
          </a:p>
        </p:txBody>
      </p:sp>
      <p:pic>
        <p:nvPicPr>
          <p:cNvPr id="5" name="Picture 4" descr="C:\Users\GENIUS\Desktop\UseCase.jpg"/>
          <p:cNvPicPr/>
          <p:nvPr/>
        </p:nvPicPr>
        <p:blipFill>
          <a:blip r:embed="rId2"/>
          <a:srcRect/>
          <a:stretch>
            <a:fillRect/>
          </a:stretch>
        </p:blipFill>
        <p:spPr bwMode="auto">
          <a:xfrm>
            <a:off x="2057400" y="1219200"/>
            <a:ext cx="5181600" cy="5125752"/>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704088"/>
            <a:ext cx="8229600" cy="1143000"/>
          </a:xfrm>
        </p:spPr>
        <p:txBody>
          <a:bodyPr/>
          <a:lstStyle/>
          <a:p>
            <a:r>
              <a:rPr lang="en-US" dirty="0" smtClean="0"/>
              <a:t>CLASS DIAGRAM</a:t>
            </a:r>
            <a:endParaRPr lang="en-US" dirty="0"/>
          </a:p>
        </p:txBody>
      </p:sp>
      <p:pic>
        <p:nvPicPr>
          <p:cNvPr id="4" name="Picture 3" descr="C:\Users\GENIUS\Desktop\class.jpg"/>
          <p:cNvPicPr/>
          <p:nvPr/>
        </p:nvPicPr>
        <p:blipFill>
          <a:blip r:embed="rId2"/>
          <a:srcRect/>
          <a:stretch>
            <a:fillRect/>
          </a:stretch>
        </p:blipFill>
        <p:spPr bwMode="auto">
          <a:xfrm>
            <a:off x="3505200" y="1828800"/>
            <a:ext cx="2133600" cy="47244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04088"/>
            <a:ext cx="8229600" cy="1143000"/>
          </a:xfrm>
        </p:spPr>
        <p:txBody>
          <a:bodyPr/>
          <a:lstStyle/>
          <a:p>
            <a:r>
              <a:rPr lang="en-US" dirty="0" smtClean="0"/>
              <a:t>ACTIVITYDIAGRAM</a:t>
            </a:r>
            <a:endParaRPr lang="en-US" dirty="0"/>
          </a:p>
        </p:txBody>
      </p:sp>
      <p:pic>
        <p:nvPicPr>
          <p:cNvPr id="6" name="Picture 5" descr="C:\Users\GENIUS\Desktop\Activity.jpg"/>
          <p:cNvPicPr/>
          <p:nvPr/>
        </p:nvPicPr>
        <p:blipFill>
          <a:blip r:embed="rId2"/>
          <a:srcRect/>
          <a:stretch>
            <a:fillRect/>
          </a:stretch>
        </p:blipFill>
        <p:spPr bwMode="auto">
          <a:xfrm>
            <a:off x="1600200" y="1477909"/>
            <a:ext cx="5943600" cy="3902181"/>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04088"/>
            <a:ext cx="8229600" cy="1143000"/>
          </a:xfrm>
        </p:spPr>
        <p:txBody>
          <a:bodyPr/>
          <a:lstStyle/>
          <a:p>
            <a:r>
              <a:rPr lang="en-US" dirty="0" smtClean="0"/>
              <a:t>SEQUENCE DIAGRAM</a:t>
            </a:r>
            <a:endParaRPr lang="en-US" dirty="0"/>
          </a:p>
        </p:txBody>
      </p:sp>
      <p:pic>
        <p:nvPicPr>
          <p:cNvPr id="5" name="Picture 4" descr="C:\Users\GENIUS\Desktop\Sequence.jpg"/>
          <p:cNvPicPr/>
          <p:nvPr/>
        </p:nvPicPr>
        <p:blipFill>
          <a:blip r:embed="rId2"/>
          <a:srcRect/>
          <a:stretch>
            <a:fillRect/>
          </a:stretch>
        </p:blipFill>
        <p:spPr bwMode="auto">
          <a:xfrm>
            <a:off x="2152650" y="1752600"/>
            <a:ext cx="4838700" cy="51054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04088"/>
            <a:ext cx="8229600" cy="1143000"/>
          </a:xfrm>
        </p:spPr>
        <p:txBody>
          <a:bodyPr/>
          <a:lstStyle/>
          <a:p>
            <a:r>
              <a:rPr lang="en-US" dirty="0" smtClean="0"/>
              <a:t>COLLABORATION DIAGRAM</a:t>
            </a:r>
            <a:endParaRPr lang="en-US" dirty="0"/>
          </a:p>
        </p:txBody>
      </p:sp>
      <p:pic>
        <p:nvPicPr>
          <p:cNvPr id="5" name="Picture 4" descr="C:\Users\GENIUS\Desktop\collabration.jpg"/>
          <p:cNvPicPr/>
          <p:nvPr/>
        </p:nvPicPr>
        <p:blipFill>
          <a:blip r:embed="rId2"/>
          <a:srcRect/>
          <a:stretch>
            <a:fillRect/>
          </a:stretch>
        </p:blipFill>
        <p:spPr bwMode="auto">
          <a:xfrm>
            <a:off x="1600200" y="2133367"/>
            <a:ext cx="5943600" cy="259126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704088"/>
            <a:ext cx="8229600" cy="1143000"/>
          </a:xfrm>
        </p:spPr>
        <p:txBody>
          <a:bodyPr/>
          <a:lstStyle/>
          <a:p>
            <a:r>
              <a:rPr lang="en-US" dirty="0" smtClean="0"/>
              <a:t>STATE DIAGRAM</a:t>
            </a:r>
            <a:endParaRPr lang="en-US" dirty="0"/>
          </a:p>
        </p:txBody>
      </p:sp>
      <p:pic>
        <p:nvPicPr>
          <p:cNvPr id="4" name="Picture 3" descr="C:\Users\GENIUS\Desktop\Statechart.jpg"/>
          <p:cNvPicPr/>
          <p:nvPr/>
        </p:nvPicPr>
        <p:blipFill>
          <a:blip r:embed="rId2"/>
          <a:srcRect/>
          <a:stretch>
            <a:fillRect/>
          </a:stretch>
        </p:blipFill>
        <p:spPr bwMode="auto">
          <a:xfrm>
            <a:off x="3467100" y="1752600"/>
            <a:ext cx="2209800" cy="42672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704088"/>
            <a:ext cx="8229600" cy="1143000"/>
          </a:xfrm>
        </p:spPr>
        <p:txBody>
          <a:bodyPr/>
          <a:lstStyle/>
          <a:p>
            <a:r>
              <a:rPr lang="en-US" dirty="0" smtClean="0"/>
              <a:t>OBJECT DIAGRAM</a:t>
            </a:r>
            <a:endParaRPr lang="en-US" dirty="0"/>
          </a:p>
        </p:txBody>
      </p:sp>
      <p:pic>
        <p:nvPicPr>
          <p:cNvPr id="5" name="Picture 4" descr="C:\Users\GENIUS\Desktop\object.jpg"/>
          <p:cNvPicPr/>
          <p:nvPr/>
        </p:nvPicPr>
        <p:blipFill>
          <a:blip r:embed="rId2"/>
          <a:srcRect/>
          <a:stretch>
            <a:fillRect/>
          </a:stretch>
        </p:blipFill>
        <p:spPr bwMode="auto">
          <a:xfrm>
            <a:off x="1600200" y="2497401"/>
            <a:ext cx="5943600" cy="186319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normAutofit/>
          </a:bodyPr>
          <a:lstStyle/>
          <a:p>
            <a:pPr lvl="0"/>
            <a:r>
              <a:rPr lang="en-US" sz="1800" dirty="0" smtClean="0"/>
              <a:t>Using RSMT tool we will monitor web application behaviour and then record all execution traces to dataset.</a:t>
            </a:r>
          </a:p>
          <a:p>
            <a:pPr lvl="0"/>
            <a:r>
              <a:rPr lang="en-US" sz="1800" dirty="0" smtClean="0"/>
              <a:t>Convert raw RSMT traces to deep learning features.</a:t>
            </a:r>
          </a:p>
          <a:p>
            <a:pPr lvl="0"/>
            <a:r>
              <a:rPr lang="en-US" sz="1800" dirty="0" smtClean="0"/>
              <a:t>Generate </a:t>
            </a:r>
            <a:r>
              <a:rPr lang="en-US" sz="1800" dirty="0" err="1" smtClean="0"/>
              <a:t>AutoEncoder</a:t>
            </a:r>
            <a:r>
              <a:rPr lang="en-US" sz="1800" dirty="0" smtClean="0"/>
              <a:t> train model on un-label features to generate train model.</a:t>
            </a:r>
          </a:p>
          <a:p>
            <a:pPr lvl="0"/>
            <a:r>
              <a:rPr lang="en-US" sz="1800" dirty="0" smtClean="0"/>
              <a:t>Apply test data on </a:t>
            </a:r>
            <a:r>
              <a:rPr lang="en-US" sz="1800" dirty="0" err="1" smtClean="0"/>
              <a:t>AutoEncoder</a:t>
            </a:r>
            <a:r>
              <a:rPr lang="en-US" sz="1800" dirty="0" smtClean="0"/>
              <a:t> train model to calculate prediction accuracy, precision, recall and </a:t>
            </a:r>
            <a:r>
              <a:rPr lang="en-US" sz="1800" dirty="0" err="1" smtClean="0"/>
              <a:t>FMeasure</a:t>
            </a:r>
            <a:r>
              <a:rPr lang="en-US" sz="1800" dirty="0" smtClean="0"/>
              <a:t>.</a:t>
            </a:r>
          </a:p>
          <a:p>
            <a:r>
              <a:rPr lang="en-US" sz="1800" b="1" dirty="0" smtClean="0"/>
              <a:t> </a:t>
            </a:r>
            <a:endParaRPr lang="en-US" sz="1800" dirty="0" smtClean="0"/>
          </a:p>
          <a:p>
            <a:pPr>
              <a:buNone/>
            </a:pPr>
            <a:endParaRPr lang="en-US" sz="1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533400" y="3048000"/>
            <a:ext cx="8229600" cy="1143000"/>
          </a:xfrm>
        </p:spPr>
        <p:txBody>
          <a:bodyPr/>
          <a:lstStyle/>
          <a:p>
            <a:pPr algn="ctr"/>
            <a:r>
              <a:rPr lang="en-US" dirty="0" smtClean="0"/>
              <a:t>RESULTS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r>
              <a:rPr lang="en-US" sz="2000" dirty="0" smtClean="0"/>
              <a:t>To validate our intrusion detection system, we created several test applications and synthetic trace datasets and then evaluated the performance of unsupervised learning against these datasets. While cross validation is widely used in traditional machine learning, it is often not used for evaluating deep learning models because of the great computational cost.</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US" dirty="0"/>
          </a:p>
        </p:txBody>
      </p:sp>
      <p:sp>
        <p:nvSpPr>
          <p:cNvPr id="3" name="Content Placeholder 2"/>
          <p:cNvSpPr>
            <a:spLocks noGrp="1"/>
          </p:cNvSpPr>
          <p:nvPr>
            <p:ph idx="1"/>
          </p:nvPr>
        </p:nvSpPr>
        <p:spPr/>
        <p:txBody>
          <a:bodyPr>
            <a:normAutofit/>
          </a:bodyPr>
          <a:lstStyle/>
          <a:p>
            <a:r>
              <a:rPr lang="en-US" sz="2000" dirty="0" smtClean="0"/>
              <a:t>In future work, we plan to investigate more complex network structures such as LSTM </a:t>
            </a:r>
            <a:r>
              <a:rPr lang="en-US" sz="2000" dirty="0" err="1" smtClean="0"/>
              <a:t>autoencoders</a:t>
            </a:r>
            <a:r>
              <a:rPr lang="en-US" sz="2000" dirty="0" smtClean="0"/>
              <a:t> or </a:t>
            </a:r>
            <a:r>
              <a:rPr lang="en-US" sz="2000" dirty="0" err="1" smtClean="0"/>
              <a:t>autoencoders</a:t>
            </a:r>
            <a:r>
              <a:rPr lang="en-US" sz="2000" dirty="0" smtClean="0"/>
              <a:t> with CNNs. We would like to see whether these structures can provide better accuracy for web attack detection tasks. Although the results show that the </a:t>
            </a:r>
            <a:r>
              <a:rPr lang="en-US" sz="2000" dirty="0" err="1" smtClean="0"/>
              <a:t>autoencoder</a:t>
            </a:r>
            <a:r>
              <a:rPr lang="en-US" sz="2000" dirty="0" smtClean="0"/>
              <a:t> outperforms other approaches, there is still significant research needed to be done to show performance on zero-day attacks. The results show promise that </a:t>
            </a:r>
            <a:r>
              <a:rPr lang="en-US" sz="2000" dirty="0" err="1" smtClean="0"/>
              <a:t>autoencoders</a:t>
            </a:r>
            <a:r>
              <a:rPr lang="en-US" sz="2000" dirty="0" smtClean="0"/>
              <a:t> will be able to potentially detect zero-day attacks, but more research in this area is still needed. A fundamental challenge of this work will be assessing efficacy of </a:t>
            </a:r>
            <a:r>
              <a:rPr lang="en-US" sz="2000" dirty="0" err="1" smtClean="0"/>
              <a:t>autoencoders</a:t>
            </a:r>
            <a:r>
              <a:rPr lang="en-US" sz="2000" dirty="0" smtClean="0"/>
              <a:t> against attacks that are unknown.</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a:bodyPr>
          <a:lstStyle/>
          <a:p>
            <a:r>
              <a:rPr lang="en-US" sz="1800" dirty="0" smtClean="0"/>
              <a:t>1. </a:t>
            </a:r>
            <a:r>
              <a:rPr lang="en-US" sz="1800" dirty="0" err="1" smtClean="0"/>
              <a:t>Halfond</a:t>
            </a:r>
            <a:r>
              <a:rPr lang="en-US" sz="1800" dirty="0" smtClean="0"/>
              <a:t> WG, </a:t>
            </a:r>
            <a:r>
              <a:rPr lang="en-US" sz="1800" dirty="0" err="1" smtClean="0"/>
              <a:t>Viegas</a:t>
            </a:r>
            <a:r>
              <a:rPr lang="en-US" sz="1800" dirty="0" smtClean="0"/>
              <a:t> J, </a:t>
            </a:r>
            <a:r>
              <a:rPr lang="en-US" sz="1800" dirty="0" err="1" smtClean="0"/>
              <a:t>Orso</a:t>
            </a:r>
            <a:r>
              <a:rPr lang="en-US" sz="1800" dirty="0" smtClean="0"/>
              <a:t> A. A classification of </a:t>
            </a:r>
            <a:r>
              <a:rPr lang="en-US" sz="1800" dirty="0" err="1" smtClean="0"/>
              <a:t>sql</a:t>
            </a:r>
            <a:r>
              <a:rPr lang="en-US" sz="1800" dirty="0" smtClean="0"/>
              <a:t>-injection attacks and countermeasures. In: Proceedings of the IEEE International Symposium on Secure Software Engineering. IEEE; 2006. p. 13–5. </a:t>
            </a:r>
          </a:p>
          <a:p>
            <a:r>
              <a:rPr lang="en-US" sz="1800" dirty="0" smtClean="0"/>
              <a:t>2. Wassermann G, Su Z. Static detection of cross-site scripting vulnerabilities. In: Proceedings of the 30th International Conference on Software Engineering. ACM; 2008. p. 171–80. </a:t>
            </a:r>
          </a:p>
          <a:p>
            <a:r>
              <a:rPr lang="en-US" sz="1800" dirty="0" smtClean="0"/>
              <a:t>3. Di </a:t>
            </a:r>
            <a:r>
              <a:rPr lang="en-US" sz="1800" dirty="0" err="1" smtClean="0"/>
              <a:t>Pietro</a:t>
            </a:r>
            <a:r>
              <a:rPr lang="en-US" sz="1800" dirty="0" smtClean="0"/>
              <a:t> R, Mancini LV. Intrusion Detection Systems vol. 38: Springer; 2008. </a:t>
            </a:r>
            <a:endParaRPr lang="en-US" sz="1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281</TotalTime>
  <Words>1250</Words>
  <Application>Microsoft Office PowerPoint</Application>
  <PresentationFormat>On-screen Show (4:3)</PresentationFormat>
  <Paragraphs>73</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Flow</vt:lpstr>
      <vt:lpstr>AUTO ENCODER SYSTEM FOR INTRUSION DETECTION   </vt:lpstr>
      <vt:lpstr>Abstract</vt:lpstr>
      <vt:lpstr>INTRODUCTION</vt:lpstr>
      <vt:lpstr>LITERATURE SURVEY</vt:lpstr>
      <vt:lpstr>LITERATURE SURVEY</vt:lpstr>
      <vt:lpstr>LITERATURE SURVEY</vt:lpstr>
      <vt:lpstr>LITERATURE SURVEY</vt:lpstr>
      <vt:lpstr>EXISTING SYSTEM</vt:lpstr>
      <vt:lpstr>PROPOSED SYSTEM</vt:lpstr>
      <vt:lpstr>REQUIRMENTS</vt:lpstr>
      <vt:lpstr>REQUIRMENTS</vt:lpstr>
      <vt:lpstr>SYSTEM ARCHITECTURE</vt:lpstr>
      <vt:lpstr>UML DIAGRAMS</vt:lpstr>
      <vt:lpstr>DATAFLOW DIAGRAM</vt:lpstr>
      <vt:lpstr>USECASE DIAGRAM</vt:lpstr>
      <vt:lpstr>CLASS DIAGRAM</vt:lpstr>
      <vt:lpstr>ACTIVITYDIAGRAM</vt:lpstr>
      <vt:lpstr>SEQUENCE DIAGRAM</vt:lpstr>
      <vt:lpstr>COLLABORATION DIAGRAM</vt:lpstr>
      <vt:lpstr>STATE DIAGRAM</vt:lpstr>
      <vt:lpstr>OBJECT DIAGRAM</vt:lpstr>
      <vt:lpstr>MODULES</vt:lpstr>
      <vt:lpstr>RESULTS</vt:lpstr>
      <vt:lpstr>Slide 24</vt:lpstr>
      <vt:lpstr>Slide 25</vt:lpstr>
      <vt:lpstr>Slide 26</vt:lpstr>
      <vt:lpstr>Slide 27</vt:lpstr>
      <vt:lpstr>Slide 28</vt:lpstr>
      <vt:lpstr>Slide 29</vt:lpstr>
      <vt:lpstr>Slide 30</vt:lpstr>
      <vt:lpstr>Slide 31</vt:lpstr>
      <vt:lpstr>Slide 32</vt:lpstr>
      <vt:lpstr>Slide 33</vt:lpstr>
      <vt:lpstr>Slide 34</vt:lpstr>
      <vt:lpstr>CONCLUSION</vt:lpstr>
      <vt:lpstr>FUTURE SCOPE</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USING ML ALGORITHMS</dc:title>
  <dc:creator>Tru Projects</dc:creator>
  <cp:lastModifiedBy>Kursange Tharun</cp:lastModifiedBy>
  <cp:revision>56</cp:revision>
  <dcterms:created xsi:type="dcterms:W3CDTF">2006-08-16T00:00:00Z</dcterms:created>
  <dcterms:modified xsi:type="dcterms:W3CDTF">2023-04-20T14:47:54Z</dcterms:modified>
</cp:coreProperties>
</file>